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6" r:id="rId4"/>
    <p:sldId id="279" r:id="rId5"/>
    <p:sldId id="275" r:id="rId6"/>
    <p:sldId id="273" r:id="rId7"/>
    <p:sldId id="278" r:id="rId8"/>
    <p:sldId id="277" r:id="rId9"/>
    <p:sldId id="270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>
      <p:cViewPr>
        <p:scale>
          <a:sx n="100" d="100"/>
          <a:sy n="100" d="100"/>
        </p:scale>
        <p:origin x="760" y="3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1504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746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980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898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642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2175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896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1054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76451"/>
            <a:ext cx="3008313" cy="394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8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292225"/>
            <a:ext cx="5486400" cy="3660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9716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3AC9AA-6799-4AEB-ACDA-428A5061089B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0AC409-79C7-4624-9253-1F3ADFCDB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4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F3AC9AA-6799-4AEB-ACDA-428A5061089B}" type="datetimeFigureOut">
              <a:rPr lang="en-US" smtClean="0"/>
              <a:t>9/22/20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C0AC409-79C7-4624-9253-1F3ADFCDB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2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679712-174C-384C-A95F-AB66B8790C54}"/>
              </a:ext>
            </a:extLst>
          </p:cNvPr>
          <p:cNvSpPr/>
          <p:nvPr userDrawn="1"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3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032858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45DF9F-444B-FE40-94A3-88916AA5C3F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214" y="167640"/>
            <a:ext cx="4041648" cy="5943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B980BE-20D0-7E4B-993B-4CD8BD2FAC82}"/>
              </a:ext>
            </a:extLst>
          </p:cNvPr>
          <p:cNvSpPr/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D8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032858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33600"/>
            <a:ext cx="8229600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48A14C6-672F-5E4E-B89C-8E6F140288A5}"/>
              </a:ext>
            </a:extLst>
          </p:cNvPr>
          <p:cNvGrpSpPr/>
          <p:nvPr userDrawn="1"/>
        </p:nvGrpSpPr>
        <p:grpSpPr>
          <a:xfrm>
            <a:off x="931462" y="6606176"/>
            <a:ext cx="7281076" cy="257686"/>
            <a:chOff x="1168400" y="6606176"/>
            <a:chExt cx="7281076" cy="2576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373FC1-B1F6-2745-9D79-931F8CB2CA8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16383"/>
            <a:stretch/>
          </p:blipFill>
          <p:spPr>
            <a:xfrm>
              <a:off x="1168400" y="6606176"/>
              <a:ext cx="1219200" cy="215379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1288268-7CA1-5A42-BDC2-24E18AE35B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3799" y="6629400"/>
              <a:ext cx="5985677" cy="2344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977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i="0" kern="1200">
          <a:solidFill>
            <a:srgbClr val="032858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Derek-schafter@utc.edu" TargetMode="External"/><Relationship Id="rId2" Type="http://schemas.openxmlformats.org/officeDocument/2006/relationships/hyperlink" Target="mailto:lagunaperalt1@llnl.gov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Tony-skjellum@utc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06E4DEB-6D00-2C40-B73F-9C6775C88FAA}"/>
              </a:ext>
            </a:extLst>
          </p:cNvPr>
          <p:cNvSpPr/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032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032858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CFE265-511C-4543-89A3-4936D046C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214" y="167640"/>
            <a:ext cx="4041648" cy="5943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6919092-B698-DE47-92C6-4001260CC18B}"/>
              </a:ext>
            </a:extLst>
          </p:cNvPr>
          <p:cNvSpPr/>
          <p:nvPr/>
        </p:nvSpPr>
        <p:spPr bwMode="auto">
          <a:xfrm>
            <a:off x="0" y="6553200"/>
            <a:ext cx="9144000" cy="304800"/>
          </a:xfrm>
          <a:prstGeom prst="rect">
            <a:avLst/>
          </a:prstGeom>
          <a:solidFill>
            <a:srgbClr val="D8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032858"/>
              </a:solidFill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2C115435-2895-5040-8D64-CDA70FA41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2225" y="6550025"/>
            <a:ext cx="1479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algn="ctr">
              <a:defRPr/>
            </a:pPr>
            <a:r>
              <a:rPr lang="en-US" sz="1400">
                <a:solidFill>
                  <a:srgbClr val="032858"/>
                </a:solidFill>
                <a:latin typeface="Times New Roman" charset="0"/>
                <a:cs typeface="Times New Roman" charset="0"/>
              </a:rPr>
              <a:t>We Shall Achieve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4238" y="2968625"/>
            <a:ext cx="8229600" cy="12192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ヒラギノ角ゴ Pro W3" charset="0"/>
                <a:cs typeface="ヒラギノ角ゴ Pro W3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9pPr>
          </a:lstStyle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Serializing and Deserializing</a:t>
            </a:r>
          </a:p>
          <a:p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MPI Opaque Objects with MPI Stages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Derek Schafer (UTC), Ignacio Laguna (LLNL), 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Kathryn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Morhor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(LLNL)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Anthony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Skjellum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—presenter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EuroMPI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2020 [Poster]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95400" y="5410200"/>
            <a:ext cx="640080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90000"/>
              </a:lnSpc>
            </a:pPr>
            <a:endParaRPr lang="en-US" sz="1400" b="1" i="1" dirty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endParaRPr lang="en-US" sz="1400" b="1" i="1" dirty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endParaRPr lang="en-US" sz="2200" b="1" i="1" dirty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en-US" sz="2200" b="1" i="1" dirty="0">
                <a:latin typeface="Arial" pitchFamily="34" charset="0"/>
                <a:cs typeface="Arial" pitchFamily="34" charset="0"/>
              </a:rPr>
              <a:t>September 23, 2020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865D0-4DE8-5949-9C62-FB6D8B15A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444445"/>
            <a:ext cx="6553200" cy="138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38948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text&#10;&#10;Description automatically generated">
            <a:extLst>
              <a:ext uri="{FF2B5EF4-FFF2-40B4-BE49-F238E27FC236}">
                <a16:creationId xmlns:a16="http://schemas.microsoft.com/office/drawing/2014/main" id="{B20C2E53-C40B-C643-B049-BCC1BCB08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6984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9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457200" y="990599"/>
            <a:ext cx="8229600" cy="76200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32858"/>
                </a:solidFill>
                <a:latin typeface="Arial Black" panose="020B0A04020102020204" pitchFamily="34" charset="0"/>
              </a:rPr>
              <a:t>Outline</a:t>
            </a: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38948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Background on MPI Stages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 we need to serialize/deserialize MPI opaque objects + example APIs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the resilient loop looks like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the application loop looks like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966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457200" y="990599"/>
            <a:ext cx="8229600" cy="76200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32858"/>
                </a:solidFill>
                <a:latin typeface="Arial Black" panose="020B0A04020102020204" pitchFamily="34" charset="0"/>
              </a:rPr>
              <a:t>Why Serialize/Deserialize</a:t>
            </a: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389485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stages model effects either of these two things to every MPI process after a detected fault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process recovery/restart OR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process “return to consistent state”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Opaque objects held by the user must be reassociated with user code and reconnected with MPI!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Recovery has an aspect of reconnection at deserialization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a cooperative model of serialization/deserialization and CPR between the application,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MPI+Stages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extensions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16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457200" y="990599"/>
            <a:ext cx="8229600" cy="76200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32858"/>
                </a:solidFill>
                <a:latin typeface="Arial Black" panose="020B0A04020102020204" pitchFamily="34" charset="0"/>
              </a:rPr>
              <a:t>Background – MPI Stages</a:t>
            </a: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419100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Generalized form of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Reinit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model of fault tolerant MPI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Key idea: checkpoints MPI and application state at synchronous checkpoints under user control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support more general MPI programs, we must be able to serialize/deserialize handles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model is working effectively on more and more complex MPI codes over time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Utilizes our own MPI implementation-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ExaMPI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that is designed to support MPI-state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Fault models is currently process faults (like ULFM and others); network and other faults possible also in future.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66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457200" y="990599"/>
            <a:ext cx="8229600" cy="762001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MPI Stages API</a:t>
            </a:r>
            <a:endParaRPr lang="en-US" sz="3200" dirty="0">
              <a:solidFill>
                <a:srgbClr val="032858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38948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68D320-ABA7-C14B-8B94-753E10D68311}"/>
              </a:ext>
            </a:extLst>
          </p:cNvPr>
          <p:cNvSpPr/>
          <p:nvPr/>
        </p:nvSpPr>
        <p:spPr>
          <a:xfrm>
            <a:off x="914400" y="1762328"/>
            <a:ext cx="76962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Previous Stages API Functions</a:t>
            </a:r>
            <a:endParaRPr lang="en-US" sz="3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MPIX_Checkpoint_write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MPIX_Checkpoint_read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MPIX_Get_fault_epoch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MPIX_Serialize_handler_register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MPIX_Serialize_handles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MPIX_Deserialize_handler_register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buFont typeface="+mj-lt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MPIX_Deserialize_handles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New Stages API Functions</a:t>
            </a:r>
          </a:p>
          <a:p>
            <a:pPr marL="742950" lvl="1" indent="-285750" fontAlgn="base">
              <a:buFont typeface="+mj-lt"/>
              <a:buAutoNum type="arabicPeriod" startAt="8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MPIX_Deallocate_stale_resources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spcAft>
                <a:spcPts val="1200"/>
              </a:spcAft>
              <a:buFont typeface="+mj-lt"/>
              <a:buAutoNum type="arabicPeriod" startAt="8"/>
            </a:pP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</a:rPr>
              <a:t>MPIX_FT_errno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1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457200" y="1193978"/>
            <a:ext cx="8229600" cy="76200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Arial Black" panose="020B0A04020102020204" pitchFamily="34" charset="0"/>
              </a:rPr>
              <a:t>Resilient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Loop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Example</a:t>
            </a:r>
            <a:endParaRPr lang="en-US" sz="3200" dirty="0">
              <a:solidFill>
                <a:srgbClr val="032858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38948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9FF421C-85C9-6946-9A67-D678A84D3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592" y="1098473"/>
            <a:ext cx="5044208" cy="507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436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457200" y="1193978"/>
            <a:ext cx="8229600" cy="76200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Arial Black" panose="020B0A04020102020204" pitchFamily="34" charset="0"/>
              </a:rPr>
              <a:t>Application 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Loop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Example</a:t>
            </a:r>
            <a:endParaRPr lang="en-US" sz="3200" dirty="0">
              <a:solidFill>
                <a:srgbClr val="032858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38948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10F2D5-4043-9E48-AF28-26666D012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2212" y="-26802777"/>
            <a:ext cx="3953275" cy="90886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9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Application Loop Example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14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C009DD-2B66-2942-B8B9-134798441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89407" y="1134343"/>
            <a:ext cx="5013958" cy="500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7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457200" y="990599"/>
            <a:ext cx="8229600" cy="76200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32858"/>
                </a:solidFill>
                <a:latin typeface="Arial Black" panose="020B0A04020102020204" pitchFamily="34" charset="0"/>
              </a:rPr>
              <a:t>Summary/Conclusions</a:t>
            </a: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MPI Stages is an effective model of MPI Fault Tolerance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type of serialization and deserialization is useful here and perhaps for other models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resilient loop model can also, potentially, be useful as common aspect with other MPI F. T. models too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approach works in practice with acceptable overheads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Future support for I/O, window, and persistent collective handles planned.</a:t>
            </a:r>
          </a:p>
        </p:txBody>
      </p:sp>
    </p:spTree>
    <p:extLst>
      <p:ext uri="{BB962C8B-B14F-4D97-AF65-F5344CB8AC3E}">
        <p14:creationId xmlns:p14="http://schemas.microsoft.com/office/powerpoint/2010/main" val="315211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/>
          <p:cNvSpPr>
            <a:spLocks noGrp="1"/>
          </p:cNvSpPr>
          <p:nvPr>
            <p:ph type="title"/>
          </p:nvPr>
        </p:nvSpPr>
        <p:spPr>
          <a:xfrm>
            <a:off x="457200" y="990599"/>
            <a:ext cx="8229600" cy="76200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32858"/>
                </a:solidFill>
                <a:latin typeface="Arial Black" panose="020B0A04020102020204" pitchFamily="34" charset="0"/>
              </a:rPr>
              <a:t>Acknowledgements</a:t>
            </a:r>
          </a:p>
        </p:txBody>
      </p:sp>
      <p:sp>
        <p:nvSpPr>
          <p:cNvPr id="14" name="Content Placeholder 3"/>
          <p:cNvSpPr txBox="1">
            <a:spLocks/>
          </p:cNvSpPr>
          <p:nvPr/>
        </p:nvSpPr>
        <p:spPr>
          <a:xfrm>
            <a:off x="457200" y="1828800"/>
            <a:ext cx="8229600" cy="389485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Ignacio Laguna, Kathryn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Morhor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LLNL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Derek Schafer, Anthony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Skjellum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Contacts: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lagunaperalt1@llnl.gov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mohror1@llnl.gov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Derek-schafer@utc.edu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Tony-skjellum@utc.edu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B33D31-82EB-244A-B7EE-65D124FF76EB}"/>
              </a:ext>
            </a:extLst>
          </p:cNvPr>
          <p:cNvSpPr/>
          <p:nvPr/>
        </p:nvSpPr>
        <p:spPr>
          <a:xfrm>
            <a:off x="838200" y="2668232"/>
            <a:ext cx="5715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This work was performed under the auspices of the U.S. Department of Energy by Lawrence Livermore National Laboratory under Contract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DE-AC52-07NA27344 (LLNL-POST-813591).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6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455</Words>
  <Application>Microsoft Macintosh PowerPoint</Application>
  <PresentationFormat>On-screen Show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Outline</vt:lpstr>
      <vt:lpstr>Why Serialize/Deserialize</vt:lpstr>
      <vt:lpstr>Background – MPI Stages</vt:lpstr>
      <vt:lpstr>MPI Stages API</vt:lpstr>
      <vt:lpstr>Resilient  Loop Example</vt:lpstr>
      <vt:lpstr>Application  Loop Example</vt:lpstr>
      <vt:lpstr>Summary/Conclusions</vt:lpstr>
      <vt:lpstr>Acknowledgements</vt:lpstr>
    </vt:vector>
  </TitlesOfParts>
  <Company>University of Tennessee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beeland</dc:creator>
  <cp:lastModifiedBy>Skjellum, Anthony</cp:lastModifiedBy>
  <cp:revision>32</cp:revision>
  <dcterms:created xsi:type="dcterms:W3CDTF">2016-07-20T12:36:34Z</dcterms:created>
  <dcterms:modified xsi:type="dcterms:W3CDTF">2020-09-23T01:07:53Z</dcterms:modified>
</cp:coreProperties>
</file>